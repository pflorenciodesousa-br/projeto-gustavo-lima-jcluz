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ceac2d332d458a" /><Relationship Type="http://schemas.openxmlformats.org/officeDocument/2006/relationships/extended-properties" Target="/docProps/app.xml" Id="R6f32bd375cf2476a" /><Relationship Type="http://schemas.openxmlformats.org/officeDocument/2006/relationships/officeDocument" Target="/ppt/presentation.xml" Id="R6cb696dfa092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7f2987bf7c48ac"/>
  </p:sldMasterIdLst>
  <p:notesMasterIdLst>
    <p:notesMasterId xmlns:r="http://schemas.openxmlformats.org/officeDocument/2006/relationships" r:id="R862103a91e0f4b86"/>
  </p:notesMasterIdLst>
  <p:sldIdLst>
    <p:sldId xmlns:r="http://schemas.openxmlformats.org/officeDocument/2006/relationships" id="256" r:id="R7dbec4544aaa45a0"/>
    <p:sldId xmlns:r="http://schemas.openxmlformats.org/officeDocument/2006/relationships" id="257" r:id="R6f0519029d1c4405"/>
    <p:sldId xmlns:r="http://schemas.openxmlformats.org/officeDocument/2006/relationships" id="258" r:id="Rf34e42a340074679"/>
    <p:sldId xmlns:r="http://schemas.openxmlformats.org/officeDocument/2006/relationships" id="259" r:id="R7c301b61a22b42b1"/>
    <p:sldId xmlns:r="http://schemas.openxmlformats.org/officeDocument/2006/relationships" id="260" r:id="R4874a0eeda0b43a8"/>
    <p:sldId xmlns:r="http://schemas.openxmlformats.org/officeDocument/2006/relationships" id="261" r:id="Re922b2661f874a47"/>
    <p:sldId xmlns:r="http://schemas.openxmlformats.org/officeDocument/2006/relationships" id="262" r:id="R18e2019736614fb4"/>
    <p:sldId xmlns:r="http://schemas.openxmlformats.org/officeDocument/2006/relationships" id="263" r:id="R1cde7da850b84aac"/>
    <p:sldId xmlns:r="http://schemas.openxmlformats.org/officeDocument/2006/relationships" id="264" r:id="R55866366c1d54528"/>
    <p:sldId xmlns:r="http://schemas.openxmlformats.org/officeDocument/2006/relationships" id="265" r:id="R8888adc4ee1b490f"/>
    <p:sldId xmlns:r="http://schemas.openxmlformats.org/officeDocument/2006/relationships" id="266" r:id="Rab9ef828325d414c"/>
    <p:sldId xmlns:r="http://schemas.openxmlformats.org/officeDocument/2006/relationships" id="267" r:id="R339591c4488a4ce8"/>
    <p:sldId xmlns:r="http://schemas.openxmlformats.org/officeDocument/2006/relationships" id="268" r:id="R370bac82ded3401a"/>
    <p:sldId xmlns:r="http://schemas.openxmlformats.org/officeDocument/2006/relationships" id="269" r:id="R011c7ea275804641"/>
    <p:sldId xmlns:r="http://schemas.openxmlformats.org/officeDocument/2006/relationships" id="270" r:id="Rf7efef2ff5d14cba"/>
    <p:sldId xmlns:r="http://schemas.openxmlformats.org/officeDocument/2006/relationships" id="271" r:id="R3458d7b9e131492a"/>
    <p:sldId xmlns:r="http://schemas.openxmlformats.org/officeDocument/2006/relationships" id="272" r:id="Re1f810ed2b1c45d3"/>
    <p:sldId xmlns:r="http://schemas.openxmlformats.org/officeDocument/2006/relationships" id="273" r:id="R2a927bfa6e2b45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ddc4b11b0645a4" /><Relationship Type="http://schemas.openxmlformats.org/officeDocument/2006/relationships/slideMaster" Target="/ppt/slideMasters/slideMaster1.xml" Id="R157f2987bf7c48ac" /><Relationship Type="http://schemas.openxmlformats.org/officeDocument/2006/relationships/notesMaster" Target="/ppt/notesMasters/notesMaster1.xml" Id="R862103a91e0f4b86" /><Relationship Type="http://schemas.openxmlformats.org/officeDocument/2006/relationships/presProps" Target="/ppt/presProps.xml" Id="R2a91ba45da9841a7" /><Relationship Type="http://schemas.openxmlformats.org/officeDocument/2006/relationships/tableStyles" Target="/ppt/tableStyles.xml" Id="R6b98cba97f334a4e" /><Relationship Type="http://schemas.openxmlformats.org/officeDocument/2006/relationships/slide" Target="/ppt/slides/slide1.xml" Id="R7dbec4544aaa45a0" /><Relationship Type="http://schemas.openxmlformats.org/officeDocument/2006/relationships/slide" Target="/ppt/slides/slide2.xml" Id="R6f0519029d1c4405" /><Relationship Type="http://schemas.openxmlformats.org/officeDocument/2006/relationships/slide" Target="/ppt/slides/slide3.xml" Id="Rf34e42a340074679" /><Relationship Type="http://schemas.openxmlformats.org/officeDocument/2006/relationships/slide" Target="/ppt/slides/slide4.xml" Id="R7c301b61a22b42b1" /><Relationship Type="http://schemas.openxmlformats.org/officeDocument/2006/relationships/slide" Target="/ppt/slides/slide5.xml" Id="R4874a0eeda0b43a8" /><Relationship Type="http://schemas.openxmlformats.org/officeDocument/2006/relationships/slide" Target="/ppt/slides/slide6.xml" Id="Re922b2661f874a47" /><Relationship Type="http://schemas.openxmlformats.org/officeDocument/2006/relationships/slide" Target="/ppt/slides/slide7.xml" Id="R18e2019736614fb4" /><Relationship Type="http://schemas.openxmlformats.org/officeDocument/2006/relationships/slide" Target="/ppt/slides/slide8.xml" Id="R1cde7da850b84aac" /><Relationship Type="http://schemas.openxmlformats.org/officeDocument/2006/relationships/slide" Target="/ppt/slides/slide9.xml" Id="R55866366c1d54528" /><Relationship Type="http://schemas.openxmlformats.org/officeDocument/2006/relationships/slide" Target="/ppt/slides/slide10.xml" Id="R8888adc4ee1b490f" /><Relationship Type="http://schemas.openxmlformats.org/officeDocument/2006/relationships/slide" Target="/ppt/slides/slide11.xml" Id="Rab9ef828325d414c" /><Relationship Type="http://schemas.openxmlformats.org/officeDocument/2006/relationships/slide" Target="/ppt/slides/slide12.xml" Id="R339591c4488a4ce8" /><Relationship Type="http://schemas.openxmlformats.org/officeDocument/2006/relationships/slide" Target="/ppt/slides/slide13.xml" Id="R370bac82ded3401a" /><Relationship Type="http://schemas.openxmlformats.org/officeDocument/2006/relationships/slide" Target="/ppt/slides/slide14.xml" Id="R011c7ea275804641" /><Relationship Type="http://schemas.openxmlformats.org/officeDocument/2006/relationships/slide" Target="/ppt/slides/slide15.xml" Id="Rf7efef2ff5d14cba" /><Relationship Type="http://schemas.openxmlformats.org/officeDocument/2006/relationships/slide" Target="/ppt/slides/slide16.xml" Id="R3458d7b9e131492a" /><Relationship Type="http://schemas.openxmlformats.org/officeDocument/2006/relationships/slide" Target="/ppt/slides/slide17.xml" Id="Re1f810ed2b1c45d3" /><Relationship Type="http://schemas.openxmlformats.org/officeDocument/2006/relationships/slide" Target="/ppt/slides/slide18.xml" Id="R2a927bfa6e2b45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88efc10acd44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68f8aea395438b" /><Relationship Type="http://schemas.openxmlformats.org/officeDocument/2006/relationships/notesMaster" Target="/ppt/notesMasters/notesMaster1.xml" Id="Ra24ee0530bae41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1fa2deb52d4bf1" /><Relationship Type="http://schemas.openxmlformats.org/officeDocument/2006/relationships/notesMaster" Target="/ppt/notesMasters/notesMaster1.xml" Id="R4b63b17c359549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dff260bc044ae9" /><Relationship Type="http://schemas.openxmlformats.org/officeDocument/2006/relationships/notesMaster" Target="/ppt/notesMasters/notesMaster1.xml" Id="R9b191fdb1dba4c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dd469375534752" /><Relationship Type="http://schemas.openxmlformats.org/officeDocument/2006/relationships/notesMaster" Target="/ppt/notesMasters/notesMaster1.xml" Id="Re9ab1235a63942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27f0a1a60b4c37" /><Relationship Type="http://schemas.openxmlformats.org/officeDocument/2006/relationships/notesMaster" Target="/ppt/notesMasters/notesMaster1.xml" Id="R4e7bec2b244b47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6d1f204e40474c" /><Relationship Type="http://schemas.openxmlformats.org/officeDocument/2006/relationships/notesMaster" Target="/ppt/notesMasters/notesMaster1.xml" Id="Rb49f9375ad2c41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9fce790c58479f" /><Relationship Type="http://schemas.openxmlformats.org/officeDocument/2006/relationships/notesMaster" Target="/ppt/notesMasters/notesMaster1.xml" Id="Rb6ec0c54283b4c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e08f76c1cd442b" /><Relationship Type="http://schemas.openxmlformats.org/officeDocument/2006/relationships/notesMaster" Target="/ppt/notesMasters/notesMaster1.xml" Id="R9901b388522840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2cd786534f42d7" /><Relationship Type="http://schemas.openxmlformats.org/officeDocument/2006/relationships/notesMaster" Target="/ppt/notesMasters/notesMaster1.xml" Id="R4e8c73d8e90f46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7e860a35de449e" /><Relationship Type="http://schemas.openxmlformats.org/officeDocument/2006/relationships/notesMaster" Target="/ppt/notesMasters/notesMaster1.xml" Id="R986a1a0644894a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a23cb87a7541ef" /><Relationship Type="http://schemas.openxmlformats.org/officeDocument/2006/relationships/notesMaster" Target="/ppt/notesMasters/notesMaster1.xml" Id="R7f551b4d5ea846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cab313c06e4493" /><Relationship Type="http://schemas.openxmlformats.org/officeDocument/2006/relationships/notesMaster" Target="/ppt/notesMasters/notesMaster1.xml" Id="Rd62ffb447bd541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5dc7858be043f2" /><Relationship Type="http://schemas.openxmlformats.org/officeDocument/2006/relationships/notesMaster" Target="/ppt/notesMasters/notesMaster1.xml" Id="R560407eae03140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7e5eda4c3a49be" /><Relationship Type="http://schemas.openxmlformats.org/officeDocument/2006/relationships/notesMaster" Target="/ppt/notesMasters/notesMaster1.xml" Id="R0d99dcb60df045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1587ec31bd40e1" /><Relationship Type="http://schemas.openxmlformats.org/officeDocument/2006/relationships/notesMaster" Target="/ppt/notesMasters/notesMaster1.xml" Id="R955ed0acccd14d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84ba90bb1949ce" /><Relationship Type="http://schemas.openxmlformats.org/officeDocument/2006/relationships/notesMaster" Target="/ppt/notesMasters/notesMaster1.xml" Id="Rfe8b0a43bbac48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bb861c1023488d" /><Relationship Type="http://schemas.openxmlformats.org/officeDocument/2006/relationships/notesMaster" Target="/ppt/notesMasters/notesMaster1.xml" Id="Rffdec0800ca24a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51bc9bc8a446ed" /><Relationship Type="http://schemas.openxmlformats.org/officeDocument/2006/relationships/notesMaster" Target="/ppt/notesMasters/notesMaster1.xml" Id="R2e4f9b3cd120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a reuniao alinhando que o plano nasce dos dados de agosto, mas tem venda como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file:///C:/Users/Jcluz/Pictures/Screenshots/Captura%20de%20tela%202026-08-20%20095021.png</a:t>
            </a:r>
          </a:p>
          <a:p xmlns:a="http://schemas.openxmlformats.org/drawingml/2006/main">
            <a:r>
              <a:t>- Google Sheets - Analise de Crescimento de Autoridade - Gustavo Lima / Postagens 2026 / agosto de 2026</a:t>
            </a:r>
          </a:p>
          <a:p xmlns:a="http://schemas.openxmlformats.org/drawingml/2006/main">
            <a:r>
              <a:t>- Instagram Insights - @gustavojcluz - publicacoes de 03 a 18/08/2026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equipe pode olhar metricas de atencao, desde que elas estejam ligadas a intencao e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file:///C:/Users/Jcluz/Antigravity/00-Arquitetura-de-Informacoes/02%20Informa%C3%A7%C3%B5es%20Mercado/Dossie%20do%20Mercado.pdf</a:t>
            </a:r>
          </a:p>
          <a:p xmlns:a="http://schemas.openxmlformats.org/drawingml/2006/main">
            <a:r>
              <a:t>- https://www.facebook.com/business/ads/ad-objectives/lead-generation?locale=en_GB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Defender o 70/30 como arquitetura de confianca: profissional prova competencia; pessoal reduz distancia.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Direcao estrategica fornecida pelo responsavel do perfil</a:t>
            </a:r>
          </a:p>
          <a:p xmlns:a="http://schemas.openxmlformats.org/drawingml/2006/main">
            <a:r>
              <a:t>- file:///C:/Users/Jcluz/Pictures/Screenshots/Captura%20de%20tela%202026-08-20%20095021.png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persona sem transformar hipotese em certeza absoluta. O ponto forte e a necessidade de seguranca na decisao.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file:///C:/Users/Jcluz/Antigravity/00-Arquitetura-de-Informacoes/02%20Informa%C3%A7%C3%B5es%20Mercado/Dossie%20do%20Mercado.pdf</a:t>
            </a:r>
          </a:p>
          <a:p xmlns:a="http://schemas.openxmlformats.org/drawingml/2006/main">
            <a:r>
              <a:t>- file:///C:/Users/Jcluz/Antigravity/00-Arquitetura-de-Informacoes/02%20Informa%C3%A7%C3%B5es%20Mercado/Persona%202025%20%E2%80%94%20Lannister%20(CNPJ%20familiar)%20Estudo.pdf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este slide para separar disciplina de execucao e fidelidade estrategica.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Sheets - Analise de Crescimento de Autoridade - Gustavo Lima / Postagens 2026 / agosto de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conclusao nao e 'fazer so Reels'. A conclusao e usar video para distribuicao e pauta certa para atrair o ICP.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Instagram Insights - @gustavojcluz - publicacoes de 03 a 18/08/2026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o outlier como exemplo de descoberta forte e conversao direta baixa, sem desvalorizar o conteudo pessoal.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Instagram Insights - @gustavojcluz - publicacoes de 03 a 18/08/2026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taxas sao variacoes internas observadas nas amostras disponiveis; carrossel e frase ainda possuem amostras pequenas.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Sheets - Analise de Crescimento de Autoridade - Gustavo Lima / Postagens 2026 / agosto de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Nao comparar estes numeros com benchmark generico. Usar agosto como linha de base para os testes do proprio perfil.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Sheets - Analise de Crescimento de Autoridade - Gustavo Lima / Postagens 2026 / agosto de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divisao 80/20 em descoberta e uma recomendacao de teste. Nao escolher anuncios apenas por alcance ou curtidas.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https://www.facebook.com/business/ads/ad-objectives/awareness</a:t>
            </a:r>
          </a:p>
          <a:p xmlns:a="http://schemas.openxmlformats.org/drawingml/2006/main">
            <a:r>
              <a:t>- https://www.facebook.com/business/ads/ad-objectives?locale=en_GB</a:t>
            </a:r>
          </a:p>
          <a:p xmlns:a="http://schemas.openxmlformats.org/drawingml/2006/main">
            <a:r>
              <a:t>- Analise estrategica a partir dos dados de agosto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Tratar R$ 1.000 como verba mensal. A Meta entrega conforme o objetivo escolhido; por isso descoberta e leads ficam separados.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https://www.facebook.com/business/ads/ad-objectives/awareness</a:t>
            </a:r>
          </a:p>
          <a:p xmlns:a="http://schemas.openxmlformats.org/drawingml/2006/main">
            <a:r>
              <a:t>- https://www.facebook.com/business/ads/ad-objectives/lead-generation?locale=en_GB</a:t>
            </a:r>
          </a:p>
          <a:p xmlns:a="http://schemas.openxmlformats.org/drawingml/2006/main">
            <a:r>
              <a:t>- https://www.facebook.com/business/ads/click-to-message-ads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sinais de selecao sao uma regra interna de teste. A campanha deve otimizar para alcance ou visualizacao, conforme o criativo.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https://www.facebook.com/business/ads/ad-objectives/awareness</a:t>
            </a:r>
          </a:p>
          <a:p xmlns:a="http://schemas.openxmlformats.org/drawingml/2006/main">
            <a:r>
              <a:t>- https://www.facebook.com/business/ads/ad-objectives?locale=en_GB</a:t>
            </a:r>
          </a:p>
          <a:p xmlns:a="http://schemas.openxmlformats.org/drawingml/2006/main">
            <a:r>
              <a:t>- Instagram Insights - @gustavojcluz - publicacoes de 03 a 18/08/2026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objetivo de leads por mensagem permite iniciar e qualificar conversas. O roteiro deve ser curto para nao matar a intencao.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https://www.facebook.com/business/ads/ad-objectives/lead-generation?locale=en_GB</a:t>
            </a:r>
          </a:p>
          <a:p xmlns:a="http://schemas.openxmlformats.org/drawingml/2006/main">
            <a:r>
              <a:t>- https://www.facebook.com/business/ads/click-to-message-ads</a:t>
            </a:r>
          </a:p>
          <a:p xmlns:a="http://schemas.openxmlformats.org/drawingml/2006/main">
            <a:r>
              <a:t>- file:///C:/Users/Jcluz/Antigravity/00-Arquitetura-de-Informacoes/02%20Informa%C3%A7%C3%B5es%20Mercado/Dossie%20do%20Mercado.pdf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faixas sao pontos de partida. O percentual de remarketing deve respeitar o tamanho do publico quente e a frequencia.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https://www.facebook.com/business/goals/retargeting</a:t>
            </a:r>
          </a:p>
          <a:p xmlns:a="http://schemas.openxmlformats.org/drawingml/2006/main">
            <a:r>
              <a:t>- https://www.facebook.com/business/ads/ad-objectives/lead-generation?locale=en_GB</a:t>
            </a:r>
          </a:p>
          <a:p xmlns:a="http://schemas.openxmlformats.org/drawingml/2006/main">
            <a:r>
              <a:t>- https://www.facebook.com/business/ads/ad-objectives/awareness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calendario e uma estrutura inicial. A ordem deve ser recalibrada com custo por conversa, respostas de Stories e vendas por pauta.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Direcao estrategica fornecida pelo responsavel</a:t>
            </a:r>
          </a:p>
          <a:p xmlns:a="http://schemas.openxmlformats.org/drawingml/2006/main">
            <a:r>
              <a:t>- Google Sheets - Analise de Crescimento de Autoridade - Gustavo Lima / Postagens 2026 / agosto de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destaques funcionam como atendimento de plantao. Videos curtos do proprio Gustavo aumentam contexto e confianca.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Solicitacao e observacao operacional fornecida pelo responsavel</a:t>
            </a:r>
          </a:p>
          <a:p xmlns:a="http://schemas.openxmlformats.org/drawingml/2006/main">
            <a:r>
              <a:t>- file:///C:/Users/Jcluz/Antigravity/00-Arquitetura-de-Informacoes/02%20Informa%C3%A7%C3%B5es%20Mercado/Dossie%20do%20Mercado.pdf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painel precisa ligar cada lead a pauta, criativo, campanha, proposta e venda. Sem essa trilha, nao existe aprendizado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https://www.facebook.com/business/ads/ad-objectives/lead-generation?locale=en_GB</a:t>
            </a:r>
          </a:p>
          <a:p xmlns:a="http://schemas.openxmlformats.org/drawingml/2006/main">
            <a:r>
              <a:t>- https://www.facebook.com/business/ads/click-to-message-ads</a:t>
            </a:r>
          </a:p>
          <a:p xmlns:a="http://schemas.openxmlformats.org/drawingml/2006/main">
            <a:r>
              <a:t>- Framework interno de medicao: atencao &gt; intencao &gt; negocio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pedindo aprovacao das quatro decisoes: papel de cada conteudo, verba 30/70, rotina do perfil e painel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Sintese estrategica desta analise</a:t>
            </a:r>
          </a:p>
          <a:p xmlns:a="http://schemas.openxmlformats.org/drawingml/2006/main">
            <a:r>
              <a:t>- https://www.facebook.com/business/ads/ad-objectives/awareness</a:t>
            </a:r>
          </a:p>
          <a:p xmlns:a="http://schemas.openxmlformats.org/drawingml/2006/main">
            <a:r>
              <a:t>- https://www.facebook.com/business/ads/ad-objectives/lead-generation?locale=en_GB</a:t>
            </a:r>
          </a:p>
          <a:p xmlns:a="http://schemas.openxmlformats.org/drawingml/2006/main">
            <a:r>
              <a:t>- https://www.facebook.com/business/goals/retargeting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f9a24129349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60201f90a4e42" /><Relationship Type="http://schemas.openxmlformats.org/officeDocument/2006/relationships/slideLayout" Target="/ppt/slideLayouts/slideLayout1.xml" Id="R9dae5d436b19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e5d436b19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f1be9bb1a4b9b" /><Relationship Type="http://schemas.openxmlformats.org/officeDocument/2006/relationships/image" Target="/ppt/media/image.png" Id="Re9c3f6ede7624b82" /><Relationship Type="http://schemas.openxmlformats.org/officeDocument/2006/relationships/notesSlide" Target="/ppt/notesSlides/notesSlide1.xml" Id="Rf3fdeb1c2b304e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51a8990fc438c" /><Relationship Type="http://schemas.openxmlformats.org/officeDocument/2006/relationships/notesSlide" Target="/ppt/notesSlides/notesSlide2.xml" Id="R5d53b83aa6d543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580d83506407e" /><Relationship Type="http://schemas.openxmlformats.org/officeDocument/2006/relationships/notesSlide" Target="/ppt/notesSlides/notesSlide3.xml" Id="R1140f5c58d834c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8ee7f8c2e4b0b" /><Relationship Type="http://schemas.openxmlformats.org/officeDocument/2006/relationships/image" Target="/ppt/media/image2.png" Id="R4cb858db297746b3" /><Relationship Type="http://schemas.openxmlformats.org/officeDocument/2006/relationships/notesSlide" Target="/ppt/notesSlides/notesSlide4.xml" Id="Rdb0f2b66cc8b4e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218779a34c21" /><Relationship Type="http://schemas.openxmlformats.org/officeDocument/2006/relationships/notesSlide" Target="/ppt/notesSlides/notesSlide5.xml" Id="R2a5c66a8e1914b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b3a6bc8e74b9c" /><Relationship Type="http://schemas.openxmlformats.org/officeDocument/2006/relationships/chart" Target="/ppt/slides/charts/chart1.xml" Id="R8055426484584e45" /><Relationship Type="http://schemas.openxmlformats.org/officeDocument/2006/relationships/notesSlide" Target="/ppt/notesSlides/notesSlide6.xml" Id="R2536b6a1f3c043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3f4362cb44830" /><Relationship Type="http://schemas.openxmlformats.org/officeDocument/2006/relationships/notesSlide" Target="/ppt/notesSlides/notesSlide7.xml" Id="R688a7b1c36ae48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a624fdb7d4b47" /><Relationship Type="http://schemas.openxmlformats.org/officeDocument/2006/relationships/notesSlide" Target="/ppt/notesSlides/notesSlide8.xml" Id="Rc1986f5cf64642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d7631d54c4514" /><Relationship Type="http://schemas.openxmlformats.org/officeDocument/2006/relationships/notesSlide" Target="/ppt/notesSlides/notesSlide9.xml" Id="R0360716623714b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1267986fc4fc8" /><Relationship Type="http://schemas.openxmlformats.org/officeDocument/2006/relationships/notesSlide" Target="/ppt/notesSlides/notesSlide10.xml" Id="R24bacf5a23e946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6bd0e587245f4" /><Relationship Type="http://schemas.openxmlformats.org/officeDocument/2006/relationships/notesSlide" Target="/ppt/notesSlides/notesSlide11.xml" Id="Rb50d5a5340b14d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c201e91ea483a" /><Relationship Type="http://schemas.openxmlformats.org/officeDocument/2006/relationships/notesSlide" Target="/ppt/notesSlides/notesSlide12.xml" Id="R774d8293273840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59ec4eaf54609" /><Relationship Type="http://schemas.openxmlformats.org/officeDocument/2006/relationships/notesSlide" Target="/ppt/notesSlides/notesSlide13.xml" Id="R8af42253ecde48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07a146bf441fd" /><Relationship Type="http://schemas.openxmlformats.org/officeDocument/2006/relationships/notesSlide" Target="/ppt/notesSlides/notesSlide14.xml" Id="R1668f92c246548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a8ec02c4e44f4" /><Relationship Type="http://schemas.openxmlformats.org/officeDocument/2006/relationships/notesSlide" Target="/ppt/notesSlides/notesSlide15.xml" Id="R760cf2cbf13444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02e7426904359" /><Relationship Type="http://schemas.openxmlformats.org/officeDocument/2006/relationships/notesSlide" Target="/ppt/notesSlides/notesSlide16.xml" Id="R75ac6e09edc34b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cb7ca9f0549b0" /><Relationship Type="http://schemas.openxmlformats.org/officeDocument/2006/relationships/notesSlide" Target="/ppt/notesSlides/notesSlide17.xml" Id="R707963ff0b1446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638a35c9944e2" /><Relationship Type="http://schemas.openxmlformats.org/officeDocument/2006/relationships/notesSlide" Target="/ppt/notesSlides/notesSlide18.xml" Id="R3987c897e4c94ef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Media de visualizacoes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B740"/>
              </a:solidFill>
            </c:spPr>
          </c:dPt>
          <c:cat>
            <c:strLit>
              <c:ptCount val="2"/>
              <c:pt idx="0">
                <c:v>Reels</c:v>
              </c:pt>
              <c:pt idx="1">
                <c:v>Posts</c:v>
              </c:pt>
            </c:strLit>
          </c:cat>
          <c:val>
            <c:numLit>
              <c:formatCode>General</c:formatCode>
              <c:ptCount val="2"/>
              <c:pt idx="0">
                <c:v>550</c:v>
              </c:pt>
              <c:pt idx="1">
                <c:v>361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9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9CC60-3525-403C-AC55-DB487E2A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98792-A123-40D2-A14B-11F85A7A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ESTRATÉGIA DE CONTEÚDO + TRÁFEGO PAGO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20A16-424B-43C0-9871-9D282305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Gustavo Lima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029CD-CE6F-4874-A077-AF20ECFC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Conteúdo que constrói confiança.</a:t>
            </a:r>
          </a:p>
          <a:p xmlns:a="http://schemas.openxmlformats.org/drawingml/2006/main">
            <a:pPr algn="l">
              <a:defRPr sz="27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Tráfego que gera conversa.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53FDD-9CF6-4593-985D-8C65F411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Leitura de agosto de 2026 + plano de mídia para a próxima fase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BF55F-7AF1-46E2-B025-881B7A20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02C42-25A4-484F-A33B-CDDD6233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NOSSA RÉGUA: CONVERSA QUALIFICADA, PROPOSTA E VENDA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D65F2-0833-4BCD-9368-2CF932AB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900"/>
            <a:ext cx="4572000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3f6ede7624b82"/>
          <a:srcRect xmlns:a="http://schemas.openxmlformats.org/drawingml/2006/main" l="29447" t="0" r="29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457200"/>
            <a:ext cx="4343400" cy="594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37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177FE-4334-45B9-8057-C990E8CB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NOSSA FILOSOFIA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6AF83-E1A8-4A43-B1D8-1607DF5D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gente não quer plateia. Quer venda.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49132-0988-41F6-A934-E725ABF2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6191F-64EF-4355-9F60-8A8919F3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0B8A0-02BA-4DE2-9B89-FD67A928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1BE4F-942C-4D70-9162-58BFF9BA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View e alcance mostram que a mensagem circulou. Mas o resultado começa quando a pessoa certa confia, chama e avança.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B4FDB-6C73-412A-BFAA-DB777428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561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730E5-FADD-4F76-A493-094D67D3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A pergunta central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CA6B-1D8A-4303-8022-9F691AB7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 conteúdo aproxima o cliente certo de uma conversa comercial?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8073D-B625-4184-8E38-81163A03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85900"/>
            <a:ext cx="4933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4A46B-8498-47C1-9E54-B755E801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383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5EB99-A566-4139-890D-02FFEA8F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Atenção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81A3A-35D8-4063-A59E-C9FB9493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Não seguidores, gancho, retenção e alcance útil.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090F4-30C5-4A85-BDB9-A836F12F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933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CF44C-B22F-4827-8639-5E485F53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C0A1C-6D94-48B9-9F3D-F61140B9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Intenção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355DC-855E-4E58-A7FD-8676956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Visita ao perfil, salvamento, compartilhamento e mensagem.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442B4-848F-4E8C-BAE7-6E7DC404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4933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713B8-A3D3-40B3-B144-B251CE19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45A49-44C6-43B7-9494-B083BC20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Negócio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5CFE1-28CC-4AF5-AD17-60F7BE13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Lead qualificado, proposta, venda, CAC e receita.</a:t>
            </a:r>
          </a:p>
        </p:txBody>
      </p:sp>
    </p:spTree>
    <p:extLst>
      <p:ext uri="{BB962C8B-B14F-4D97-AF65-F5344CB8AC3E}">
        <p14:creationId xmlns:p14="http://schemas.microsoft.com/office/powerpoint/2010/main" val="758602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6B29C-05B5-436D-A9B1-161013E0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POSICIONAMENTO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2E901-FC63-434F-AA64-7554F11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papel do perfil do Gustavo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2E62D-1806-4E41-9D40-93132D89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D85A7-F6AE-4579-8D10-2FC2FD33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A5E95-45BE-4B20-9D9D-BACD0B9D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95D06-20F0-4971-99B7-7F7D331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Gustavo não precisa parecer influenciador. Precisa parecer a escolha segura.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3F0F3-98CF-4A7D-9B0D-A9FEEC7E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552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O perfil deve unir domínio de plano de saúde, presença humana e resposta comercial rápida.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05061-30AC-45B4-B63D-34A40AB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4933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41AC4-DDF6-41FE-A2FB-D593D5D2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764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1769E-5897-4E63-AE09-6D2D5018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Profissional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D7C93-3300-4171-8CAB-F86C46FE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Cotação, comparação, mercado, prova, estrutura e orientação.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A801C-D223-45EB-80DD-70954DA4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933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D8FE3-575C-4FB4-8018-DB95B24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53661-A1B7-4367-8D17-8C0E267C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Pessoal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AAABC-39FB-4F6E-908E-68AC77DA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Família, esporte, rotina, valores e crenças que humanizam.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7CCCE-32C9-4BFF-9866-72109FFE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4933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BC40E-FDD9-4A37-8CC5-3F012803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DC67B-36CC-49D4-9E9E-CAAE595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Coerente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BBB64-D0D3-473D-8452-B2415B5E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Todo conteúdo deve reforçar confiança, clareza e responsabilidade.</a:t>
            </a:r>
          </a:p>
        </p:txBody>
      </p:sp>
    </p:spTree>
    <p:extLst>
      <p:ext uri="{BB962C8B-B14F-4D97-AF65-F5344CB8AC3E}">
        <p14:creationId xmlns:p14="http://schemas.microsoft.com/office/powerpoint/2010/main" val="848441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648EC-902D-48D7-970D-033DC3AE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PERSONA ESSENCIAL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3450A-47A4-499C-824E-24DC753E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Quem precisa confiar na gente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CE3DE-F8DF-4D66-A849-94BB3AC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FBCFA-96C0-43EA-A17B-05E007BA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445E5-12F5-474A-A720-0DB60267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0B81D-A653-4355-8E21-ADB478FD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CNPJ familiar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F1F1B-1F5D-48AF-B3B2-089B593A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Empresário ou profissional, geralmente entre 35 e 54 anos, com família de 3 a 5 pessoas e disposição para investir R$ 3 mil a R$ 5 mil por mês.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833C2-66F4-4DFB-AF57-0BFE531F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4572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335F6-42C6-4635-A8AF-A1EA8BD3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Ele não busca o plano mais barato.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12080-3016-4508-8113-242FC221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114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Busca rede, previsibilidade e segurança para não escolher errado.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6C0F9-49AA-42F0-94C2-ED294A91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62674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858db297746b3"/>
          <a:stretch xmlns:a="http://schemas.openxmlformats.org/drawingml/2006/main"/>
        </p:blipFill>
        <p:spPr>
          <a:xfrm xmlns:a="http://schemas.openxmlformats.org/drawingml/2006/main">
            <a:off x="5562600" y="1840353"/>
            <a:ext cx="6000750" cy="334874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BC4A8-B6F6-40E1-B6FD-7436CA1E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34050"/>
            <a:ext cx="626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4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4C4C"/>
                </a:solidFill>
                <a:latin typeface="Arial"/>
                <a:ea typeface="Arial"/>
                <a:cs typeface="Arial"/>
              </a:rPr>
              <a:t>Medos que movem a decisão: reajuste, carência, rede ruim e cláusula escondida.</a:t>
            </a:r>
          </a:p>
        </p:txBody>
      </p:sp>
    </p:spTree>
    <p:extLst>
      <p:ext uri="{BB962C8B-B14F-4D97-AF65-F5344CB8AC3E}">
        <p14:creationId xmlns:p14="http://schemas.microsoft.com/office/powerpoint/2010/main" val="542167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7454B-E88D-4B81-AF24-007844F3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POSTADO X PLANEJADO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55346-9A45-4E65-A84C-29A76A27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Agosto: volume quase cheio, estratégia incompleta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F0E75-9246-47B4-92F7-86416BA7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856E0-2277-4049-889F-3E4ABDD7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BF0A6-3FCA-41D4-861B-FA9A5BF2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B8C6A-C3B2-47BB-889D-77DB3F55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3429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B19CD-9F49-4589-989C-8925942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FF907-A3A8-4A16-8109-299C0763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96,7%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27C75-8E73-40F7-82E8-9BBC554F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do volume planejado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99ADA-A223-4FC9-BFD6-5A2F8C14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29 posts realizados de 30 previstos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ECDD5-3875-4185-AB8C-440AAD4F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429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7A9C4-4DFC-49D7-9418-70006A69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E286F-E611-4FFC-A73D-38414EA3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94C4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94C4C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6A076-9307-4983-918B-DC9E9524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cotações realizadas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23D39-F192-49ED-BDBA-6B72DC25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76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apenas 33,3% da meta de cotação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A3944-2BE2-4AFA-ADAF-ED78260E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429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E78CE-21F7-41BE-93E9-6F14910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1AF76-04BD-4F91-A39D-674A56F5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90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6B8E3-6526-40C2-ACD2-A4576B41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43175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mix profissional / pessoal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26159-3B7B-4BEF-BE09-8C5FA1F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o desenho desejado era 70 / 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C7484-22AC-4018-A411-AD23D3C4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1201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6213B-1A82-4E36-9D83-7FEE9C8E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problema não foi falta de trabalho.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AEDE1-6B11-4052-B703-9E0140C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Foi aderência ao plano: mantivemos dois posts por dia, mas perdemos a repeticao da cotação e a camada humana do perfil.</a:t>
            </a:r>
          </a:p>
        </p:txBody>
      </p:sp>
    </p:spTree>
    <p:extLst>
      <p:ext uri="{BB962C8B-B14F-4D97-AF65-F5344CB8AC3E}">
        <p14:creationId xmlns:p14="http://schemas.microsoft.com/office/powerpoint/2010/main" val="129877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985A1-38F1-4F7B-9395-EB30A8A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DESEMPENHO DE AGOSTO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4F509-D7B6-429D-9EE6-A7EDB356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formato abre a porta. A pauta decide quem entra.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D64A9-B97B-42CA-9A52-D92B635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4EEB6-48D4-429C-9FA0-937A346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D5B59-F739-4226-BC53-6A2F1FFE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95300" y="1600200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55426484584e4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739C1-F192-437A-B455-0EC0C14F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914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6A09C-DA82-4F01-9598-2F5CC744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15.357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878DD-F67F-4C9B-966F-78FC4CD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335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visualizações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57232-1ACD-4248-93B0-591B5E8E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Soma dos Insights das publicações lidas.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1AB6E-DD07-44C4-B293-FD81778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4914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0A3FF-C288-4DEE-889A-A70F03AA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57,5%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459F5-A4EE-4DAA-B0B6-8DA585CA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seguidores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4B666-FF78-4B70-B777-AC3F4856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52800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Descoberta existe: mais da metade veio de fora da 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63864-F1D9-4C5F-9D5F-72FE082D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4914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14A72-9E3D-4867-BD96-C1AD74F1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EF46F-D89B-41BB-9FFC-B7A2BFC9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48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novos seguidores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99013-836C-4813-A61C-5937AFE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403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Crescimento atribuído diretamente aos posts.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945C0-9D1F-41E0-8952-BC649FC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911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Sem o Reel fora da curva, a média de Reels cai para aproximadamente 412: apenas 14% acima dos posts.</a:t>
            </a:r>
          </a:p>
        </p:txBody>
      </p:sp>
    </p:spTree>
    <p:extLst>
      <p:ext uri="{BB962C8B-B14F-4D97-AF65-F5344CB8AC3E}">
        <p14:creationId xmlns:p14="http://schemas.microsoft.com/office/powerpoint/2010/main" val="210366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EAA32-D49C-4F03-8002-F1501340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 VÍDEO FORA DA CURVA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D7A0A-F732-4249-81F4-5930B43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Alcance alto não e sinal verde automático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0DE50-0F9C-4178-AA3C-C8361027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0BADC-C989-449B-9E5A-3D94BA5E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B0382-7742-43B0-B643-FD3D88BD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000DF-6D7B-40C2-9717-F0BFC0B0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4191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DD7A8-4FF6-417A-8D5F-EE6A14D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3.713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0E6C3-5FCF-4ED9-AD03-17070926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visualizações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8A0DD-F2BA-416D-AA15-AE538FE0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'Pense menos, faça mais'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25AC8-440D-41F8-86F9-1417E295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Excelente porta de entrada.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CB974-3AE6-4BD1-97B6-86756B25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24000"/>
            <a:ext cx="6610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CBBB7-A28C-46C0-B1E2-58529955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86,9%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53202-74BC-4D9B-BDE8-F53F8009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seguidores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EE88C-346B-4DF1-8EE7-9C5A5EC1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353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11C47-F082-47BC-84B1-779A94F2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interações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1F883-157A-4895-8225-2F205297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30A5A-D980-412A-85D8-4B15C47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seguidor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B7F0D-9DED-49FC-B10F-49ECEBC1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66103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B6DF6-48F1-43E6-BEF0-7691E88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385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A lição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882A4-1904-422D-84CA-E9517338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95700"/>
            <a:ext cx="581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7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pessoal pode atrair. Mas, sem uma ponte para a promessa profissional, ele entretém e vai embora.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7D84C-87D7-4140-B22A-2A7060FB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387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A ponte pode ser legenda, sequência de Stories, destaque ou CTA para uma dúvida real do cliente.</a:t>
            </a:r>
          </a:p>
        </p:txBody>
      </p:sp>
    </p:spTree>
    <p:extLst>
      <p:ext uri="{BB962C8B-B14F-4D97-AF65-F5344CB8AC3E}">
        <p14:creationId xmlns:p14="http://schemas.microsoft.com/office/powerpoint/2010/main" val="13056687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26A59A-91B6-457F-B175-AD3C70D5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CURVA DE AGOSTO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48FA6-D003-48E1-A4CA-5D0A69BF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Quanto tempo o conteúdo escala organicamente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1DF0-3209-433E-868A-32B3F3A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CC16F-7624-4190-83A3-795833F8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E5E09-9E93-4A22-A24F-16A7C57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FD9EB-5E01-4CD8-AAA5-72499513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09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0 a 7 dias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61A10-7CCF-42E0-953A-BD6ED7C5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09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7 a 14 dias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07BCB-EDB4-41C5-ACDB-F84916C6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Carrossel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916CE-07A4-40F5-AF55-7324AB3A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1454B-0C11-48AE-9976-7B3FAB2F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374795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1DD8C-733D-4FA0-BE47-F5E67F6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+62,6%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DE369-3446-42C3-9488-C628F7AE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FB12E-AAAD-4701-8FC4-125F527D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5065B-C455-4398-9B67-BFE4C0D9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288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+22,2%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35EF9-7AB4-4C64-832F-4069364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Cotação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10850-B63F-4671-A409-480A0AD9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9C7DE-12A1-4B9C-AF66-A21EE425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172429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64500-C300-4EC8-A7B5-D5379B1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+28,8%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D732B-2536-4A39-A64E-BA9E5BB0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FC367-F948-43C1-9C96-8C3343F2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00624-BBFA-4726-8176-90BF7F12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+6,3%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A5A5C-5F0E-4A13-83CF-E4A5914E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Espontâneo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5F1DA-642B-4F17-9ACD-DF923F26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956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3571A-C167-446C-81B8-23FF4C4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95650"/>
            <a:ext cx="206556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1C3D6-011D-48D1-9126-6C7A5E5A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+34,5%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84C79B-651C-4FCA-8964-52895239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DE226-0CA6-416A-96DE-3CABC765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523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10F12-8AF3-48F5-A4C1-9BFAFD47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+5,5%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1AD146-7470-451A-94D6-51869885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33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EFBC1C-997D-4BB1-A75D-4A9F8382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FFCF0-FE70-4ABB-B2DB-C0560D3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38600"/>
            <a:ext cx="170034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2A1F9-45DE-4387-8A07-DC318C6E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+28,4%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9933A0-67D9-426C-BD73-71A13A5E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E5FD47-81F6-4622-9DE5-B0D365E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2105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807F51-BE36-4413-B74D-694FCC4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576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+22,1%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F5155-A8B3-427B-9261-74CB9034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A98AAD-9454-4B0F-987D-5D2D24D9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109EF9-A515-4F11-B859-35B40D78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81550"/>
            <a:ext cx="182607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F3A4ED-B98F-4123-949F-705AE31F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006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4C4C"/>
                </a:solidFill>
                <a:latin typeface="Arial"/>
                <a:ea typeface="Arial"/>
                <a:cs typeface="Arial"/>
              </a:rPr>
              <a:t>+30,5%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01F61A-F4E7-4182-B148-263AE891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sem amostra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F8C49A-9FE3-4733-B8ED-2608560E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A686A8-F836-4C85-8465-D6F91CEC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78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Leitura prática: 24h mede gancho, 7 dias mede a maior parte da distribuição e 14 dias revela a cauda. Ainda não há base de 3 semanas.</a:t>
            </a:r>
          </a:p>
        </p:txBody>
      </p:sp>
    </p:spTree>
    <p:extLst>
      <p:ext uri="{BB962C8B-B14F-4D97-AF65-F5344CB8AC3E}">
        <p14:creationId xmlns:p14="http://schemas.microsoft.com/office/powerpoint/2010/main" val="1231252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E9737-887C-4522-AE95-0FC0E013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PRIMEIRAS 24 HORAS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21501-8DB9-47E2-B34B-ADA068F7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Vídeos de cotação: nosso ponto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ACAFD-96A3-4030-8F18-B0DCC66C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A8BD8-F06E-4020-8462-1A00BDEE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FB3A2-3928-46BF-B3BB-293AA931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61671-B428-4575-9BEA-00BD15E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3429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8D137-CAF8-4A3A-9849-7606687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47751-7773-408E-A9EE-08B9C266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14,2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ABC6D-BC2B-4AC0-8225-B250E55D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retenção média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4A850-5AE1-491C-B1E8-453186FB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mediana: 13 segundos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7083C-3D6F-4727-B7F4-2D6CFB3D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429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72B09-1028-4A87-B210-B150D0CF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E5C22-7CA8-4A25-A923-EA5D3E2E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6690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46,2%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67EB0-557F-4047-9E09-05BF427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0325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gancho medio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B4845-3412-45CC-904D-162AB527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3372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mediana: 49%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D95DD-C292-4924-AB9B-E578C8C3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429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AA334-00A9-4620-A1AB-B1F17F28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39E00-C0CC-4AA7-BC5F-338917B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268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2183E-A071-4A2B-A93B-AE68EDBB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0325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views médias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2301B-576C-4F4C-813F-05A96FA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3372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alcance medio: 166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1C156-C25D-40BD-BF12-63336BF7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11201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1002B-D546-487E-A998-D116C61B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Isso e uma linha de base interna, não um veredito.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F831B-948B-4619-8C93-1A76EAA4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O próximo passo e testar abertura, duração, oferta e CTA, sempre ligando o vídeo a conversas qualificadas e vendas.</a:t>
            </a:r>
          </a:p>
        </p:txBody>
      </p:sp>
    </p:spTree>
    <p:extLst>
      <p:ext uri="{BB962C8B-B14F-4D97-AF65-F5344CB8AC3E}">
        <p14:creationId xmlns:p14="http://schemas.microsoft.com/office/powerpoint/2010/main" val="1410266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1AB54-418D-4965-8237-294232BE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 QUE IMPULSIONAR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7FF80-3363-4B43-B163-B07EA549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Profissional e pessoal cumprem funções diferentes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3747E-5377-4797-A909-F5749C2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29000-554A-47C2-8503-48C2C44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595FB-B79C-4523-9301-3A73B07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D5C54-6E9A-492B-9F1E-D2CF2D7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1FF7-7939-45AD-91E8-56058C54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5334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5364B-9C3B-4F28-A272-601047E9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Conteúdo profissional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F3715-FEE5-48D4-A700-D7BA5565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80% da verba de descoberta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6E86E-0BA3-4C7E-BD7D-32D88FD8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100% da verba de captacao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AB8D3-9E14-48A7-ACE0-60E20EA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C3F6F-2DF0-49DC-BA3A-41315FFB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Cotação, comparação, rede, carência, reajuste, prova, bastidor de atendimento e visão de mercado.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CFA70-DE13-40B5-879E-678F95CC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Objetivo: atrair e converter pela competência.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95074-CD9F-424A-957E-D41746A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13A08-7A83-41D0-9198-7A6BD461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5334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803CF-BBA4-486E-A6B4-0DA8AE3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Conteúdo pessoal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BA00C-3978-495B-8F55-0DB4818D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20% da verba de descoberta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8EC8C-3A68-40A9-A43B-5E54C9A3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4C4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4C4C"/>
                </a:solidFill>
                <a:latin typeface="Arial"/>
                <a:ea typeface="Arial"/>
                <a:cs typeface="Arial"/>
              </a:rPr>
              <a:t>0% da verba de captacao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399CF-F161-440B-8FE7-19000F1A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61A0A-1740-4F81-BE13-36222416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Só entra no pago quando carrega valor, identidade e uma ponte para a promessa profissional. Foto genérica de família fica no orgânico.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60C00-DD37-4659-9649-25B04096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14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Objetivo: reduzir distância e aumentar confiança.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42D50-506A-4F81-BCBE-DEE6E0B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120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orgânico, mantemos o desenho 70% profissional / 30% pessoal.</a:t>
            </a:r>
          </a:p>
        </p:txBody>
      </p:sp>
    </p:spTree>
    <p:extLst>
      <p:ext uri="{BB962C8B-B14F-4D97-AF65-F5344CB8AC3E}">
        <p14:creationId xmlns:p14="http://schemas.microsoft.com/office/powerpoint/2010/main" val="6556273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F155A-C1B2-4AE2-98D8-AF1E9500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PLANO MENSAL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44B60-55BD-499E-B4D2-948DB0B5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 R$ 1.000, a verba precisa ter foco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BA219-71E8-4A21-8AAE-37C7392D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9C70D-5BCC-4106-BAF7-E644BDA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32458-93C3-45FA-83E2-C4B31746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518FE-5FEB-45A5-8D11-65AE3528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R$ 1.000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95680-A478-4045-90B3-6D1EED6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sem remarketing nesta fase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1B016-8D0A-4090-9FD0-9D031768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337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3B24C-1CDA-4088-84D6-7FDDCA5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33700"/>
            <a:ext cx="4667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8D994-CFB5-41A9-9BAC-F89C19A3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33CDE-40D0-482B-9164-4B2E0B0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7B96E-2D5F-4AFB-AFBF-94457B12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Reconhecimento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F68A4-881F-4C36-924B-9D4E1B5F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52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Captacao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AFFA5-6951-43EF-81C7-09401A67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7A187-AD6C-40D1-AB07-11C67916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Estrutura enxuta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6A71E-4943-42E1-B59E-B1A1051B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2 campanhas, com 2 a 3 criativos em cada. Sem pulverizar R$ 33 por dia em dezenas de conjuntos.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CF332-862C-43FA-886C-366A9D2E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24000"/>
            <a:ext cx="400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1F613-D5D8-4AD1-AB66-FA8A96CF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R$ 300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B501B-8F3E-4620-BC63-4F1E04C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31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Descoberta e visualização qualificada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75D60-1F70-4E7C-8C35-DEDB24ED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67100"/>
            <a:ext cx="4000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60690-5DBD-4D1C-9914-6E7CAC29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R$ 700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BC8B4-14A7-41A3-BD30-FF3C2B58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Leads por mensagem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6612F-89CE-4B46-A72A-ED2D95BB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81550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WhatsApp ou Direct, com qualificação curta.</a:t>
            </a:r>
          </a:p>
        </p:txBody>
      </p:sp>
    </p:spTree>
    <p:extLst>
      <p:ext uri="{BB962C8B-B14F-4D97-AF65-F5344CB8AC3E}">
        <p14:creationId xmlns:p14="http://schemas.microsoft.com/office/powerpoint/2010/main" val="811121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6B290-F604-4556-9095-D5CC4C19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REGRA DE SELEÇÃO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283EF-E73A-451D-B57B-26E08744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que merece verba de reconhecimento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C251B-F613-43B9-9845-6ED06020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45D96-758B-4790-9A99-55D61E1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F0A55-0DE5-4E3E-9B79-F7D6941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94909-D283-4FFA-92F3-DF6A2E6E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533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7E1C5-E320-496F-83A7-3A08D4BE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D35A1-7974-4B62-B462-91900E0D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76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Não seguidores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662B6-CFDB-44D0-AAF6-0741F0C5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O conteúdo atravessou a bolha atual.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90EDA-2F2C-4E66-9368-AF1C3FA1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533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017D4-A7EC-476E-A0F4-ACF188BC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84BB3-CAA3-4B78-B141-0974D5D1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76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Gancho + retenção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83DCC-AE33-4B04-A2DE-E4DE6B33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A pessoa parou e permaneceu.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83E45-2F6D-42A5-BFFF-B887BA02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533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9A2AD-49CA-462B-858A-D256A866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E75AD-6168-4DA0-B334-5C33EF05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Salvos + compartilhados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2CD76-91B2-4C78-A96C-20160EF1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Houve utilidade ou identificação.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70D4C1-8492-4CD9-83D7-7C2650F5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5334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B61FD-0046-42D8-BC2D-E110E960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9DEE6-03D3-417E-BCF4-A8B9B6BB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57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Ações de perfil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264E3-DFBF-4D2A-9892-B5DACCD4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19500"/>
            <a:ext cx="4457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O interesse continuou depois do post.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6A350-2355-4030-8439-3EF9326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11201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57E56-C43F-4889-A2D2-46F6341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4C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4C4C"/>
                </a:solidFill>
                <a:latin typeface="Arial"/>
                <a:ea typeface="Arial"/>
                <a:cs typeface="Arial"/>
              </a:rPr>
              <a:t>Não impulsionar porque 'foi o que mais deu view'.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88DDD-8B31-42EF-86B0-69A0D0FF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43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 vencedor precisa combinar distribuição, aderência ao ICP e uma ponte para o comercial.</a:t>
            </a:r>
          </a:p>
        </p:txBody>
      </p:sp>
    </p:spTree>
    <p:extLst>
      <p:ext uri="{BB962C8B-B14F-4D97-AF65-F5344CB8AC3E}">
        <p14:creationId xmlns:p14="http://schemas.microsoft.com/office/powerpoint/2010/main" val="2108671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314889-5216-4E9F-AFB9-AF95359D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WHATSAPP COMO PONTE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6B17E-7E53-4A91-B40E-4EF6A24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Captacao: anúncio que começa uma conversa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E5EE8-E1D9-4C7A-9262-856D02E5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440EC-87C7-4646-91B5-1DF6D2E9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4B6E7-AA7A-4576-8FD2-C93493FB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6D24D-90D3-4111-9E82-663BCE6A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5D1C8-91BF-4430-A300-9F2707C0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CB7B5-606C-4C84-B797-BA49290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9B3C9-D285-4658-B0C3-48AC9E09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Rede, carência, reajuste ou escolha errada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01ACA-AEF8-457B-841F-64D887C5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717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798A1-54E4-4E20-AB74-557417E3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8115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7B4A8-D326-4174-823B-F52798A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33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1B92D-286B-4DA5-A1BD-EB223FD4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33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Clareza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E4F40-46F0-4605-A047-8FFC9262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908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Explicação simples e 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90D53-33AA-40B8-9D3B-555DC2B8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F753F-E19D-424D-B41E-CEE5395B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8115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34702-4175-4C46-881E-9FC54B5C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33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47F7A-C191-45B5-ADA7-0C4BF213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5B790-F908-4A30-B0E5-633692D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Caso, estrutura ou resultado 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F2012-F1BF-4C36-8216-3A0CCA91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717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153CB-EA98-4A8D-8C96-6A5D16F8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D440C-12EC-4B00-A777-F0344E6F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33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41FC2-CA0E-47DC-99CE-0E41052B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5FB2C-3DCB-4C13-80B9-0D74B316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Simule ou compare sem compromisso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4E2134-6567-4DBB-8333-571FC20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2284FE-1689-4D8E-8819-BABE3DD2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81150"/>
            <a:ext cx="1866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65929E-226F-49A9-954E-5996B14A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33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DD9E1-71E5-41D8-9248-6D82FCFF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33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Conversa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9DCD9-3035-41A8-A93A-F3CD4FD9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WhatsApp ou Instagram Direct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8B98E-9162-420D-AE1C-104A18ED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Qualificar em até 6 perguntas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019B9E-F5A7-4939-B7F8-312AED7D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43E6E-893B-495B-979C-86838109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Cidade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ACDC5-7EE0-487A-8FF5-10A4D839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BC81E0-37BD-43A9-A3ED-60978BEE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957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Idades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D2B5F6-9988-4D90-ADAC-1C9BC095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8F37D-AB64-4A2A-B9A9-D83680B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957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CNPJ/MEI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F9FEE8-437F-4119-BA95-11BD3A03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6733FE-9EA2-4572-AD14-3AE982D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Plano atual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703F79-D493-468B-901E-01561EF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5775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040F60-C2E0-43B5-8183-7DE0040E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Urgencia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DFB9EC-3102-41F1-8299-8FC68DC4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BFAD9A-9F8A-4113-AB11-D61EDB4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815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5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Faixa de investimento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06E99B-DDA1-4ECC-A990-E3A9B730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57600"/>
            <a:ext cx="4991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4D44BD-CB9B-4D95-9331-5FC37442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05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A métrica principal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701101-8B3D-408B-BDC0-A6658FF8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4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 por conversa qualificada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92645F-ECA0-450F-AA9B-6253C8AF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054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Não custo por clique isolado.</a:t>
            </a:r>
          </a:p>
        </p:txBody>
      </p:sp>
    </p:spTree>
    <p:extLst>
      <p:ext uri="{BB962C8B-B14F-4D97-AF65-F5344CB8AC3E}">
        <p14:creationId xmlns:p14="http://schemas.microsoft.com/office/powerpoint/2010/main" val="1136841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400D49-4DAC-42FB-A308-AB03BB5E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EVOLUÇÃO RECOMENDADA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9CD29-0E79-4A32-9FA0-E6A1E48D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 mais verba, entra o remarketing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43383-E4A1-4E50-975E-710FD452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E1648-6EE2-4305-8584-5E2C0F37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30962-BCE8-4457-98FC-4CD624D2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769EA-ED3B-4FD7-B70C-8117C957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R$ 1 mil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63C42-B92C-4D0A-930F-6B643610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52600"/>
            <a:ext cx="1914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76E95-D88B-4411-A6F7-7B5F5FFD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752600"/>
            <a:ext cx="4467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4CE9C-D430-4857-886D-AA04953A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62150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91424-0A19-4031-A71B-852FDB5D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431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FC6EE-5AB1-488F-86A1-ED26AAC5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R$ 3 mil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5E190-235B-4EF9-918E-E4630D74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159543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0F262-D036-406E-9990-D7F2C4C0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952750"/>
            <a:ext cx="35099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CFA7D-9925-4F59-9B0F-2D72C57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1276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3EA2F-90B8-42CD-BE08-E8EB66F2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62300"/>
            <a:ext cx="14049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50A02-C19A-4E02-ADB5-21AD36DD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162300"/>
            <a:ext cx="33575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FE6E6-D6D1-49D8-9037-E0F57FC9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623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FA194-123E-454C-B5F9-2F8604F9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R$ 5 mil+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8C79F-F13E-4AEB-AF7A-B44F34F3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1276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35D48-BC47-4270-A5E9-1B87B6B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52900"/>
            <a:ext cx="35099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B24E5-9D49-4302-BC80-2C680393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4152900"/>
            <a:ext cx="159543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69F69-AAEB-4D5E-A392-E0D13B52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245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536F12-EA27-4754-83F7-11CA9A1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62450"/>
            <a:ext cx="33575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910C3-4056-4601-BFE9-33F624D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213" y="4362450"/>
            <a:ext cx="1481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14941-0526-418C-9066-B165B4A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Reconhecimento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FDB2A-F5F5-4FD0-8FB4-0BC8BC07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67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Captacao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A67B8-B7A1-4B02-886F-104D8E6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Remarketing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DEEE3-6CA0-4927-A706-DE4B2010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30289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B8114-9951-41E8-8DC5-0F600FC1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495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Remarketing entra quando existe público quente suficiente.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D2979-4F12-45D0-AB14-A8F7FF1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9922C-9ED1-4CAC-B855-9D0401EC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09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Públicos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61058-55DA-412E-A4E6-CE9954AA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Engajados do Instagram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Quem viu vídeos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Leads sem fechamento</a:t>
            </a:r>
          </a:p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Visitantes de site/CRM depois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28C94-14D4-4DB8-B9BD-DD2825C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C4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4C4C"/>
                </a:solidFill>
                <a:latin typeface="Arial"/>
                <a:ea typeface="Arial"/>
                <a:cs typeface="Arial"/>
              </a:rPr>
              <a:t>Não forcar 25% se a audiência for pequena ou a frequência subir demais.</a:t>
            </a:r>
          </a:p>
        </p:txBody>
      </p:sp>
    </p:spTree>
    <p:extLst>
      <p:ext uri="{BB962C8B-B14F-4D97-AF65-F5344CB8AC3E}">
        <p14:creationId xmlns:p14="http://schemas.microsoft.com/office/powerpoint/2010/main" val="17568092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FE09A1-060A-483D-AE5C-412344F9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ORGÂNICO 70/30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9B47D-0924-4F1F-BD1B-6C5C440C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Calendario semanal: 14 posts com função clara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C8EA8-ED55-43FF-80C9-D4867EA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EEE7D-D085-4602-9073-2294E4A4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6C46B-BB0B-419F-9CA6-787EF70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60E3B-1130-4C8D-A93B-6FB47199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096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10 profissionais + 4 pessoais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ABB5C-3CE4-4ABA-9927-A9DF2D94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F55EC-4F40-44CC-B4BF-5389589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5F91B-4448-45A9-A568-DE4A8716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2875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849BE-611C-4214-BF6D-2EA2A0A1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52575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MANHÃ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B3C00-3FB2-446F-9105-1189D444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C2A8F-A40A-4928-B10C-E85B5CA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5257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SEGUNDA POSTAGEM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E5327-DE9D-412F-B8A8-35E9E15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D54AC-511A-4281-A22F-44761D6D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0C5BD-B15A-4E7F-900B-E9D26E03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4310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07309-B427-4ED2-A62D-E0AB2474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669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Cotação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AD79B-F2DF-4259-B8E0-3F102F7F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30101-7989-4872-9974-D050C92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669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Pessoal: rotina / família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E614B-357F-4275-A142-A87B36F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79B60-BD17-49F5-9464-A3C4311D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5DFC1-442B-4AC1-A360-4FC7429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955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42C11-0B98-46C4-8327-738BAF1F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193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Cotação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C873D-151A-4E78-A52E-47C5B7F3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85C7D-0BA0-4A7A-90E0-C7DAF430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Autoridade / 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48211-4B17-4301-BE4F-6ADB3D52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5A947-B419-4D87-9E3B-FED4D7AA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QUA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7D43F-79C7-4983-8156-3276590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B3D83-C704-4D23-A684-914BB6A7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Cotação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4F73D-6B8F-40B5-AE72-95A7E70E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91FE1C-E19B-4CA0-9AE5-1351AA64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718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Carrossel comparativo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3361FE-0FB6-4378-B225-51B1BD63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F61E9-0988-4CB9-88B6-9FCEF1E8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QUI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58EE47-DF87-4F2B-AD19-AAFA5D75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004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8C306F-064C-4557-9388-847E61D0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242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Cotação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49F33C-09E4-4218-A785-4F37C219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4CE883-53B6-4FE3-A7BA-2B54C24E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2427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Pessoal: esporte / valores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A72B82-731B-4C63-8CA2-7D4DDF81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508D85-D396-414A-85FE-823AA22F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SEX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4F047A-394C-4EBA-8A8D-627583D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5290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3BB154-AE5F-43FF-B558-C8F33012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767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Cotação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8C31DD-C663-4DC8-A939-0A6CCC0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5290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FB2C21-2A9F-4D36-B444-99560C13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767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Mercado / caso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61C389-4D31-463C-BF11-82605A6B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7E4A64-D905-4477-9F54-EEC8235E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SAB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FF642B-0E37-4C99-A57F-A1D5A712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053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B55412-9900-4F8E-BC88-F1214923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2917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Checklist CNPJ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2BD55E-49C6-4949-BF07-A423772C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7F2BF3-1686-42DC-8F63-0B01A954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2917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Pessoal: bastidores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FFE4EE-6D38-4C0C-8FA8-DD4DAB0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1123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C7CA6C-9D4C-4A29-BB9E-7E52912A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DOM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928A49-5600-4AF4-892A-DD766F61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18DA69-4D7C-4170-8D49-7FCCEB1E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81625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FAQ de risco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1BF1FD-00AE-4BF2-8C27-6820D7D4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57800"/>
            <a:ext cx="533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A55C10-EA75-453A-B353-694E1208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8162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Pessoal: reflexão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FC1934-EEF4-4366-A29C-3F5B8B7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1120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lógica do dia deixa de ser chute: repetimos a cotação para criar habito e variamos a noite para cumprir autoridade, educação e humanidade.</a:t>
            </a:r>
          </a:p>
        </p:txBody>
      </p:sp>
    </p:spTree>
    <p:extLst>
      <p:ext uri="{BB962C8B-B14F-4D97-AF65-F5344CB8AC3E}">
        <p14:creationId xmlns:p14="http://schemas.microsoft.com/office/powerpoint/2010/main" val="6481117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574E7-3F25-4864-BBCA-7CDF50FB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DESTAQUES, STORIES E RESPOSTA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98E29-6622-4037-9D7F-A0DEABAF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92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perfil precisa trabalhar mesmo quando ninguém 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3B595-5B61-42C4-AD9B-48024500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A4278-A284-43FB-A752-679B119B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59374-251D-43D0-B9A7-A37CF37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67E4C-5F58-49FD-ACF5-9069D428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37E3C-ECF9-4A3F-AAA4-CCC5EC97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Destaques com vídeo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0B706-A91A-4DA4-BE09-F7330861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9718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Comece aqui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Plano CNPJ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Rede e hospitais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Carência / CPT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Reajustes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Cotações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Clientes e provas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Bastidores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Fale comigo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CEC74-1727-49CB-99FA-BE9AF55D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65200-E5E6-4FD3-9523-655A0952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Stories todos os dias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15215-CF45-4A71-A9E8-442F11E7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a 5 quadros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F790A-28CA-4B01-B6C2-342ACCA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971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1. Um momento humano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2. Cotação ou bastidor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3. Dúvida ou insight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4. Prova / contexto</a:t>
            </a:r>
          </a:p>
          <a:p xmlns:a="http://schemas.openxmlformats.org/drawingml/2006/main">
            <a:pPr algn="l"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5. Convite para responder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F4B1E-C247-4AB8-9141-F7235F08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43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Pouco, real e frequente.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FB8F6-46D8-445E-A75E-3038A9E0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0713D-0606-4548-A9FC-A4BE748A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Responder e conduzir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B61E7-4CCC-4486-8449-D8C38076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Comentario não e fim de funil.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FB50-A537-480A-A4BD-753E502A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Responder, fazer uma pergunta e, quando houver contexto, convidar para Direct ou WhatsApp.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CFB40-A53A-469C-B3B3-AC75A904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196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Sem spam. Com presença.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FE1AA3-9C7B-4EFE-A347-4770F8A2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1120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 existe destaque, ele precisa explicar. Se existe engajamento, alguém precisa responder.</a:t>
            </a:r>
          </a:p>
        </p:txBody>
      </p:sp>
    </p:spTree>
    <p:extLst>
      <p:ext uri="{BB962C8B-B14F-4D97-AF65-F5344CB8AC3E}">
        <p14:creationId xmlns:p14="http://schemas.microsoft.com/office/powerpoint/2010/main" val="3583345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91C31-B2AB-4D31-9271-A7CDB854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PAINEL DE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71232-6778-4C9B-A98B-7350ECBF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Métrica bonita não paga boleto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B4F5B-93E4-444F-BE8B-53405193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80098-54B6-45F6-8F3D-483A537E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63D2B-7F5E-4CDC-9164-6DBB646D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A2F38-AD75-4B1A-ADF4-480E109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33909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E268-9B39-4BF8-952E-16975F85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339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A1014-3DF1-403F-9052-558F6AEA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ATENÇÃO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44617-4113-4AC2-852F-5703CBE8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Alcance em não seguidores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CPM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Gancho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Retenção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Visualização qualificada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C083E-25BA-490D-BDCB-7EC261DF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5755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E7C60-C28D-455C-BB5E-CC85F0CF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33909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A56B7-2D31-4B1E-AF51-AABC1A05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339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C1EBE-A88A-4484-A01F-A077150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14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45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454"/>
                </a:solidFill>
                <a:latin typeface="Arial"/>
                <a:ea typeface="Arial"/>
                <a:cs typeface="Arial"/>
              </a:rPr>
              <a:t>INTENÇÃO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E95DC-B962-4175-B052-3B084D7E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Visitas ao perfil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Salvos e compartilhados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Mensagens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Conversas qualificadas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Custo por lead qualificado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99A67-9E06-4381-83EF-9431D9F5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BCC4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1379B-4466-4F81-970C-601F6737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33909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E34EB-06A2-4013-B1E8-7A119838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339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5C675-7D4F-4914-AF7E-3A125BF5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NEGÓCIO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52C2F-9A0C-4050-A129-9E87F7C2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Propostas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Vendas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Lead para proposta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CAC / custo por venda</a:t>
            </a:r>
          </a:p>
          <a:p xmlns:a="http://schemas.openxmlformats.org/drawingml/2006/main">
            <a:pPr algn="ctr">
              <a:defRPr sz="16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Receita e ROAS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2E6A3-CEB2-4D85-AAB2-6B9FBB53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120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10D0D-0E1F-47B4-98D3-2FA97122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Nossa decisão de escala acontece no negócio. As outras métricas explicam o caminho.</a:t>
            </a:r>
          </a:p>
        </p:txBody>
      </p:sp>
    </p:spTree>
    <p:extLst>
      <p:ext uri="{BB962C8B-B14F-4D97-AF65-F5344CB8AC3E}">
        <p14:creationId xmlns:p14="http://schemas.microsoft.com/office/powerpoint/2010/main" val="5359884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FCC6E-6022-48DC-ACF8-DC4280AB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PRÓXIMOS 90 DIAS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D3DB7-8C4F-419C-B2B6-3FA8CAE7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 que aprovamos hoje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417A6-C293-4BAC-A2BA-F4B6C2E1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7D3B3-7DD5-4052-A48B-706BA082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6870"/>
                </a:solidFill>
                <a:latin typeface="Arial"/>
                <a:ea typeface="Arial"/>
                <a:cs typeface="Arial"/>
              </a:rPr>
              <a:t>GUSTAVO LIMA | ESTRATÉGIA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8225D-A61A-418C-A9B9-CE11DD98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1B26E-3CB0-4C82-98C8-FFE00584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342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0C8BD-18F5-43DC-B77B-BD9CCF1C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754BC-0EF1-41A2-B7B1-749BA714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38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Arrumar a casa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54C07-9B91-4763-82B1-3F68F0BD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00250"/>
            <a:ext cx="22669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Gravar destaques, criar rotina de Stories, instalar rastreio simples e lançar a divisão 30/70.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BB507-E4B4-4B17-A2FA-67ED1D1A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04950"/>
            <a:ext cx="342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1590A-2759-4B6B-884E-0ACAF0FD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573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74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B740"/>
                </a:solidFill>
                <a:latin typeface="Arial"/>
                <a:ea typeface="Arial"/>
                <a:cs typeface="Arial"/>
              </a:rPr>
              <a:t>31-60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89919-9671-409A-8822-D2BEA21E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383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Aprender rápido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6E335-6F6A-4814-A299-486079B7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00250"/>
            <a:ext cx="19621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Testar 3 ângulos, cortar desperdício e levar as objeções das conversas de volta para o conteúdo.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E6208-C696-427E-BE16-EDB4B694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429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CAC3F-12C4-4841-BAC1-E087DBB2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573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9E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9E67"/>
                </a:solidFill>
                <a:latin typeface="Arial"/>
                <a:ea typeface="Arial"/>
                <a:cs typeface="Arial"/>
              </a:rPr>
              <a:t>61-90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ED30A-C3E8-4D91-93C9-2AC3C360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383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9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Escalar o que vende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AA21E-B489-4B5F-87F6-1EF5DBFF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9621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8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870"/>
                </a:solidFill>
                <a:latin typeface="Arial"/>
                <a:ea typeface="Arial"/>
                <a:cs typeface="Arial"/>
              </a:rPr>
              <a:t>Aumentar vencedores e abrir remarketing quando houver público quente e verba suficiente.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306D2-9C5C-42CF-B26D-9AC02119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1201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C00B1-03D5-48B5-AB94-E4806DB8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A meta não é viralizar.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C5942-81BB-4505-9B13-6F38E37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51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É fazer o cliente certo pensar: 'é com ele que eu vou falar.'</a:t>
            </a:r>
          </a:p>
        </p:txBody>
      </p:sp>
    </p:spTree>
    <p:extLst>
      <p:ext uri="{BB962C8B-B14F-4D97-AF65-F5344CB8AC3E}">
        <p14:creationId xmlns:p14="http://schemas.microsoft.com/office/powerpoint/2010/main" val="778165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2026-08-20T14:04:54.7280000Z</dcterms:created>
  <dcterms:modified xsi:type="dcterms:W3CDTF">2026-08-20T14:04:54.7280000Z</dcterms:modified>
</coreProperties>
</file>